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 후 한 문장으로 시작합니다.
"도구를 쓰는 한국어 에이전트에서, 안전장치를 '어디에' 둬야 하는가를 실측으로 답한 프로젝트입니다."
이 발표의 결론을 먼저 말해두면 끝까지 따라오기 쉽습니다 — 강제는 결정적 게이트가 하고, 분류기는 어디서 뚫리는지 재는 계측기로 강등해야 한다는 것입니다.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배경은 이렇습니다. KISA 와 과기정통부 가이드가 프롬프트 인젝션을 위협으로 지목했지만 재현 가능한 한국어 테스트 코퍼스는 제공되지 않습니다. 그래서 안전 런타임과 평가셋을 직접 만들고, 게이트와 분류기의 차이를 애블레이션으로 증명했습니다.
⏩ [압축 17초] KISA 가이드가 인젝션을 위협으로 지목했지만 재현 가능한 한국어 코퍼스는 제공되지 않았습니다. 그래서 런타임과 평가셋을 직접 만들었습니다.
────────────────────────────────────────
📖 [용어·배경]
• 간접 프롬프트 인젝션 — 공격자가 사용자 발화가 아니라 에이전트가 읽는 데이터(검색 문서·티켓·메모)에 명령을 심는 공격.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
[22초]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24초] 공격 표면이 옮겨갔습니다. 에이전트는 검색 문서와 티켓을 읽고 스스로 도구를 호출합니다. 공격자가 통제하는 건 사용자 발화가 아니라 도구가 돌려주는 값입니다. EchoLeak 이 실제 사례입니다.
⏩ [압축 12초] 공격 표면이 옮겨갔습니다. 공격자가 통제하는 건 사용자 발화가 아니라 에이전트가 읽는 도구 반환값입니다.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취약점.
• Kanana / Prompt Guard — 각각 카카오의 한국어 안전 분류기, Meta 의 영어 인젝션 탐지 모델.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그럼 온디바이스 분류기를 쓰면 될까요. 축을 나눠야 합니다. 모델이 어디서 도는지는 무관하고, 탐지냐 강제냐가 쟁점입니다. 분류기가 신뢰 경계가 되면 그건 연극입니다.
⏩ [압축 12초] 축을 나눠야 합니다. 위치는 무관하고 탐지냐 강제냐가 쟁점입니다. 분류기가 신뢰 경계가 되면 연극입니다.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실제로는 공격 성공률을 못 낮추는 조치. 통계적으로 무방어와 구별되지 않으면 theater.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구현은 5계층입니다. FastAPI 와 역할 인증 위에, 도구 실행 권한 판정은 네 개 seam 중 before_tool 로 수렴하고 나머지 seam 은 fail-closed 차단을 맡습니다. Gemini·OpenAI·Kanana·ShieldGemma 를 쓰지만 학습 모델은 전부 로그 전용입니다.
⏩ [압축 15초] 구현은 5계층입니다. 도구 실행 권한은 before_tool 로 수렴하고, 다른 seam 은 fail-closed 차단을 맡습니다. 학습 모델은 전부 로그 전용입니다.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유도되고 run_id에 해시 계보가 박힙니다.
모델 사용 범위를 미리 못박아 두면 질의를 예방할 수 있습니다 — Gemini 3.5 Flash는 function-calling 스모크, 헤드라인 애블레이션은 gpt-4o-mini, ShieldGemma는 EN-KO 오프라인 실험, 녹화 데모는 FakeProvider scripted(키 불요)입니다.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30초] 구성요소를 목적별로 정리한 표입니다. 방어는 Tier A·B·C 세 계층으로 설계했는데, A 는 결정적 정책 게이트로 구현했고, B 는 오염 추적으로 구현했지만 A 위에 얹어도 추가 감소가 0 이었고, C 는 격리 LLM 으로 설계 명세만 냈습니다. 오른쪽 끝 강제 권한 열만 봐주십시오. 결정적 규칙인 Tier A·Tier B·authz·HITL 만 있음이고, 학습 모델인 Kanana·ShieldGemma·Ko-AgentGuard·e5 는 전부 없음, 로그 전용입니다. 이 배치가 곧 이 프로젝트의 설계 주장입니다.
⏩ [압축 12초] 구성요소 표입니다. 강제 권한 열만 보시면 결정적 규칙만 있음이고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자료용 상세 슬라이드입니다(영상에서는 생략).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44초] 실제 요청 하나를 따라가 보겠습니다. 조회와 검색은 위험 티어가 낮아 그대로 통과합니다. 그런데 검색이 돌려준 문서 안에 주민번호를 이 주소로 보내라는 지시가 숨어 있고, 우리 레일은 0.038 로 채점해 못 잡습니다. 라이브 gpt-4o-mini 실험에서 관측된 공격 형태의 도구 호출을, 영상에서는 FakeProvider 로 동일하게 고정 재생합니다. 같은 시도에서 방어 구성만 바꾸면 무방어는 실행되고 Tier A 는 allowlist 로, 볼트 arm 은 dlp.egress 로 차단됩니다.
⏩ [압축 31초] 실제 요청을 따라가 보겠습니다. 검색이 돌려준 문서에 주민번호를 이 주소로 보내라는 지시가 숨어 있고, 레일은 0.038 로 못 잡습니다. 라이브에서 관측된 공격 형태를 영상에서 고정 재생하면, 무방어는 실행되고 Tier A 는 allowlist 로 차단합니다.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
[44초]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뒤에 나올 숫자들이 무엇을 재는지 정의한 표입니다. 핵심은 t-ASR 로, 공격을 시도했는지가 아니라 실행까지 갔는지를 셉니다. 안전 지표와 함께 정상 업무 완수율인 BPR 도 같이 봅니다 — 한쪽만 보면 안전장치의 값을 과대평가하기 때문입니다.
⏩ [압축 9초] 지표 정의입니다. 핵심은 t-ASR — 시도가 아니라 실행까지 간 비율입니다.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 Wilson score CI — 비율의 신뢰구간. 표본이 작거나 0/1 에 가까울 때 정규근사보다 안정적.
• span F1 / Macro-F1 — span F1=NER 구간 일치 F1. Macro-F1=클래스별 F1 의 단순 평균(희소 클래스에 민감).
────────────────────────────────────────
[상세 노트 · Q&amp;A/리허설용]
자료용 상세 슬라이드입니다(영상에서는 생략).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44초] 같은 공격 60건을 다섯 가지 방어로 돌렸습니다. 무방어 0.17 인데 프롬프트 애원도 데이터마킹도 분류기 강제도 통계적으로 구별되지 않습니다. 결정적 게이트만 0 으로 내려갑니다. 다만 군집 단위로 보수적으로 보면 유의 임계에는 못 미칩니다. 구조적으로 전부 막았고 방향이 일관된다까지가 제 주장입니다.
⏩ [압축 25초] 같은 공격 60건을 다섯 방어로 돌렸습니다. 무방어 0.17 인데 애원도 데이터마킹도 분류기 강제도 구별되지 않고, 결정적 게이트만 0 입니다. 군집 단위로는 유의 임계에 못 미쳐 구조적 차단까지가 제 주장입니다.
────────────────────────────────────────
📖 [용어·배경]
• arm — 애블레이션의 한 실험 조건. none/plea/spotlight/classifier_gate/tier_a 등.
• plea / spotlight — 각각 '공격 무시해달라'는 시스템 프롬프트 애원, 비신뢰 데이터에 구분자를 씌우는 데이터마킹.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
[90초]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30초] 같은 페이로드를 세 가지 배선으로 넣어봤습니다. 사용자 발화는 1.0, native 대화 템플릿은 0.0, 도구 문자열을 직접 채점하면 다시 1.0 입니다. 0.0 이 나온 건 성능이 아니라 템플릿이 tool 턴을 버리기 때문입니다. 우리 런타임은 세 번째 방식이라 이 구성에서는 Kanana 가 잘 잡습니다. 요점은 탐지 성패가 어댑터 배선에 좌우된다는 것입니다.
⏩ [압축 20초] 같은 페이로드를 세 배선으로 넣으면 발화 1.0, 대화 템플릿 0.0, 도구 문자열 직접 1.0 입니다. 우리 런타임은 세 번째라 잘 잡습니다. 탐지 성패가 배선에 좌우된다는 뜻입니다.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CPU 레일이었습니다. 한국어를 제대로 보는 분류기로 강제했을 때 어떻게 되는지는 이번 실험에서 측정하지 않았고, S15 단기 과제에 넣어뒀습니다.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혹시 나가더라도 뭐가 나가느냐가 DLP 입니다. 볼트를 켜면 매핑된 PII 기준 원본 노출이 0 퍼센트고, 비식별에 실패하면 원본을 넘기지 않고 차단합니다.
⏩ [압축 11초] 볼트를 켜면 매핑된 PII 기준 원본 노출이 0 퍼센트고, 비식별 실패 시에는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학습·추론 파이프라인은 넷입니다. R6·R7 은 GPU 파인튜닝, e5 는 인코더를 동결하고 헤드만, Ko-AgentGuard 는 CPU 학습입니다. 중요한 건 e5 교차언어가 한국어에서 0.0 이라는 점입니다 — 인코더를 다국어로 바꿔도 이 문제는 안 풀립니다.
⏩ [압축 23초] 파이프라인은 넷입니다. R6·R7 은 KLUE-RoBERTa GPU 파인튜닝, e5 는 헤드만, Ko-AgentGuard 는 CPU 학습입니다. 핵심은 e5 가 한국어에서 0.0 이라는 점입니다.
────────────────────────────────────────
📖 [용어·배경]
• 파인튜닝 vs 헤드만 학습 — 전자는 모델 전체 가중치를 갱신, 후자는 인코더를 얼리고(freeze) 위에 얹은 분류기만 학습.
• TF-IDF + LR — 단어·문자 빈도 특징 + 로지스틱 회귀. 딥러닝 없이 CPU 로 도는 고전 분류기.
• BCEWithLogits — 멀티라벨용 손실. 한 문장에 여러 라벨이 동시에 붙을 수 있어 softmax 를 쓰면 안 된다.
• KLUE-RoBERTa — 한국어 벤치마크 KLUE 로 사전학습된 RoBERTa 계열 모델.
────────────────────────────────────────
[상세 노트 · Q&amp;A/리허설용]
여기부터는 부록입니다. 헤드라인 주장과는 분리해서 봐주십시오.
학습 파이프라인은 넷이고 환경이 다릅니다. R6·R7 은 RunPod RTX 4090 GPU 파인튜닝, e5 는 GPU 임베딩 위에 LR 헤드만 학습, Ko-AgentGuard 는 CPU 로 TF-IDF+LR 을 학습했습니다.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CPU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16초] 남는 기여는 평가셋 KoTIP-Bench, Presidio 한국어 인식기 결함 2건, 그리고 129개 테스트와 계보 해시로 받친 재현성입니다.
⏩ [압축 7초] 기여는 평가셋, Presidio 결함 2건, 재현성입니다.
────────────────────────────────────────
📖 [용어·배경]
• 계보(provenance) / run_id — 결과 한 줄마다 어떤 데이터·정책·레일로 나왔는지 해시를 각인. 하나라도 바뀌면 옛 결과가 자동 격리된다.
• Presidio — Microsoft 의 오픈소스 PII 탐지·비식별 라이브러리. 이 프로젝트는 한국어 인식기 결함 2건을 보고.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129개가 통과하고, run_id에 데이터셋·정책·레일 아티팩트 해시를 박아둡니다. 그래서 셋 중 하나라도 바뀌면 옛 결과가 자동으로 격리됩니다. 오래된 수치가 새 결과인 척 섞이는 사고를 구조적으로 막습니다.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데모는 API 키 없이 재현됩니다. 같은 공격을 세 구성으로 재생하면 무방어에서만 유출이 실행됩니다. 유출 카운터가 무방어 1, 게이트 0 인 게 핵심 불변식입니다.
⏩ [압축 12초] 데모는 키 없이 재현됩니다. 무방어에서만 유출이 실행되고 유출 카운터가 무방어 1 게이트 0 입니다.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모델은 여전히 속았지만 행동이 나가지 않았습니다. 이게 '탐지 실패해도 안전하다'는 뜻입니다.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앞으로는 세 갈래입니다. 단기는 공격 시나리오를 30개 이상으로 늘려 검정력을 확보하는 것, 중기는 상태 영속화와 외부 경보 연동, 장기는 미구현인 Tier C 격리입니다.
⏩ [압축 10초]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24초] 한계는 그대로 보고합니다. 사전에 명시한 예측 하나가 반증됐고 코퍼스가 작습니다. 이 실험 범위에서 분류기 단독 강제는 배선과 언어에 의존했습니다. 도구 실행 권한은 결정적 게이트가 갖고, 분류기는 어디서 뚫리는지 재는 계측기로. 감사합니다.
⏩ [압축 18초] 예측 하나가 반증됐고 코퍼스가 작습니다. 이 실험 범위에서 분류기 단독 강제는 배선과 언어에 의존했습니다. 실행 권한은 결정적 게이트가, 분류기는 계측기로.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CPU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21초] (부록 · 질문 시에만) 7-arm 전체와 군집 단위 보수적 재분석입니다. 누적 arm 을 얹어도 t-ASR 이 0.00 그대로라 Tier B 와 분류기는 추가 이득이 없습니다.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즉 한계 이득이 없습니다.
Tier B는 A 위에서 공격을 더 줄이지 못합니다 — 로그 전용으로 강등할 근거입니다.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18초] (부록 · 질문 시에만) 전체 배선도입니다. 게이트 우회 경로를 물으시면 도구 실행 앞 화살표가 before_tool 하나로만 수렴하는 걸 보시면 됩니다.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pPr indent="0" marL="0">
              <a:lnSpc>
                <a:spcPct val="130000"/>
              </a:lnSpc>
              <a:buNone/>
            </a:pP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pPr indent="0" marL="0">
              <a:lnSpc>
                <a:spcPct val="130000"/>
              </a:lnSpc>
              <a:buNone/>
            </a:pP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도구 채널</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1,900줄 별도) · 테스트 129</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★도구 반환값 = 검사 없음★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78992"/>
          <a:ext cx="11057839" cy="914400"/>
        </p:xfrm>
        <a:graphic>
          <a:graphicData uri="http://schemas.openxmlformats.org/drawingml/2006/table">
            <a:tbl>
              <a:tblPr/>
              <a:tblGrid>
                <a:gridCol w="1783080"/>
                <a:gridCol w="4434840"/>
                <a:gridCol w="3063240"/>
                <a:gridCol w="1773936"/>
              </a:tblGrid>
              <a:tr h="347472">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4-seam ReAct 루프</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★있음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Tier B taint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(실측: A 위에 얹어도 추가 감소 0 → 로그 전용 강등 근거)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있음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Tier C 격리</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도구를 안 주는 격리 LLM 으로 비신뢰 데이터를 다뤄 taint 세탁 자체를 막는다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미구현</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볼트 (DLP)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 입력·비인가 콘텐츠 필드에 토큰만 노출 · 승인된 라우팅 인자(to·account)는 실행 경계에서 원본 복원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RegexVault(런타임 기본) + KR 정규식 5종 · Presidio 는 선택/결함 실험 · R6 NER 은 오프라인(미편입)</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있음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authN/authZ · HITL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역할 분리와 대화-고객 바인딩으로 confused-deputy 차단, 비가역 도구는 사람 승인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있음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생성 모델(P-LLM)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없음(log-only)</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관측·모니터링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440680"/>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5440680"/>
            <a:ext cx="10728655" cy="548640"/>
          </a:xfrm>
          <a:prstGeom prst="rect">
            <a:avLst/>
          </a:prstGeom>
          <a:noFill/>
          <a:ln/>
        </p:spPr>
        <p:txBody>
          <a:bodyPr wrap="square" rtlCol="0" anchor="ctr"/>
          <a:lstStyle/>
          <a:p>
            <a:pPr indent="0" marL="0">
              <a:buNone/>
            </a:pPr>
            <a:r>
              <a:rPr lang="en-US" sz="145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783080"/>
                <a:gridCol w="4754880"/>
                <a:gridCol w="1691640"/>
                <a:gridCol w="2825496"/>
              </a:tblGrid>
              <a:tr h="420624">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20624">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모델이 공격 도구 호출을 시도한 비율 — ★전체 합계 기준★ 불변(조건별: clean 0.30→0.40,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base64 0.994→0.0</a:t>
                      </a:r>
                      <a:endParaRPr lang="en-US" sz="1400" dirty="0">
                        <a:latin typeface="Apple SD Gothic Neo" charset="0"/>
                        <a:ea typeface="Apple SD Gothic Neo" charset="0"/>
                        <a:cs typeface="Apple SD Gothic Neo" charset="0"/>
                      </a:endParaRPr>
                    </a:p>
                    <a:p>
                      <a:pPr algn="ct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(호모글리프 0.97·자모분해 0.994 견딤)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span F1 / Macro-F1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학습형 레일(R6 PII NER · R7 유해성) 품질 — 부록 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0.9845 / 0.709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864608"/>
            <a:ext cx="11057839" cy="365760"/>
          </a:xfrm>
          <a:prstGeom prst="rect">
            <a:avLst/>
          </a:prstGeom>
          <a:noFill/>
          <a:ln/>
        </p:spPr>
        <p:txBody>
          <a:bodyPr wrap="square" rtlCol="0" anchor="ctr"/>
          <a:lstStyle/>
          <a:p>
            <a:pPr indent="0" marL="0">
              <a:buNone/>
            </a:pPr>
            <a:r>
              <a:rPr lang="en-US" sz="13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3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pPr indent="0" marL="0">
              <a:buNone/>
            </a:pP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pPr indent="0" marL="0">
              <a:buNone/>
            </a:pPr>
            <a:r>
              <a:rPr lang="en-US" sz="1050" dirty="0">
                <a:solidFill>
                  <a:srgbClr val="5B6B7F"/>
                </a:solidFill>
                <a:latin typeface="Menlo" pitchFamily="34" charset="0"/>
                <a:ea typeface="Menlo" pitchFamily="34" charset="-122"/>
                <a:cs typeface="Menlo" pitchFamily="34" charset="-120"/>
              </a:rPr>
              <a:t>requires_hitl</a:t>
            </a:r>
            <a:pPr indent="0" marL="0">
              <a:buNone/>
            </a:pP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CPU 레일이다 — 한국어를 보는 분류기로 강제했을 때는 미측정 · spotlight는 지시문 주입 + 비신뢰 도구 출력 구분자 래핑까지 수행(완전 구현)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pPr indent="0" marL="0">
              <a:lnSpc>
                <a:spcPct val="115000"/>
              </a:lnSpc>
              <a:buNone/>
            </a:pP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 — </a:t>
            </a:r>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pPr indent="0" marL="0">
              <a:lnSpc>
                <a:spcPct val="115000"/>
              </a:lnSpc>
              <a:buNone/>
            </a:pP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CPU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pPr indent="0" marL="0">
              <a:lnSpc>
                <a:spcPct val="115000"/>
              </a:lnSpc>
              <a:buNone/>
            </a:pP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GPU · 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GPU · 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 (CPU)</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★CPU★ · 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GPU 임베딩(동결)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★Ko-AgentGuard F1 0.994 도 상한★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129 테스트</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통과 (.venv; CI-core 123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pPr indent="0" marL="0">
              <a:lnSpc>
                <a:spcPct val="130000"/>
              </a:lnSpc>
              <a:buNone/>
            </a:pP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app.trace_view</a:t>
            </a:r>
            <a:pPr indent="0" marL="0">
              <a:lnSpc>
                <a:spcPct val="130000"/>
              </a:lnSpc>
              <a:buNone/>
            </a:pP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pPr indent="0" marL="0">
              <a:lnSpc>
                <a:spcPct val="130000"/>
              </a:lnSpc>
              <a:buNone/>
            </a:pPr>
            <a:r>
              <a:rPr lang="en-US" sz="1300" dirty="0">
                <a:solidFill>
                  <a:srgbClr val="5B6B7F"/>
                </a:solidFill>
                <a:latin typeface="Menlo" pitchFamily="34" charset="0"/>
                <a:ea typeface="Menlo" pitchFamily="34" charset="-122"/>
                <a:cs typeface="Menlo" pitchFamily="34" charset="-120"/>
              </a:rPr>
              <a:t>gate_blocks_total</a:t>
            </a:r>
            <a:pPr indent="0" marL="0">
              <a:lnSpc>
                <a:spcPct val="130000"/>
              </a:lnSpc>
              <a:buNone/>
            </a:pPr>
            <a:r>
              <a:rPr lang="en-US" sz="1400" dirty="0">
                <a:solidFill>
                  <a:srgbClr val="5B6B7F"/>
                </a:solidFill>
                <a:latin typeface="Apple SD Gothic Neo" pitchFamily="34" charset="0"/>
                <a:ea typeface="Apple SD Gothic Neo" pitchFamily="34" charset="-122"/>
                <a:cs typeface="Apple SD Gothic Neo" pitchFamily="34" charset="-120"/>
              </a:rPr>
              <a:t> · </a:t>
            </a:r>
            <a:pPr indent="0" marL="0">
              <a:lnSpc>
                <a:spcPct val="130000"/>
              </a:lnSpc>
              <a:buNone/>
            </a:pPr>
            <a:r>
              <a:rPr lang="en-US" sz="1300" dirty="0">
                <a:solidFill>
                  <a:srgbClr val="5B6B7F"/>
                </a:solidFill>
                <a:latin typeface="Menlo" pitchFamily="34" charset="0"/>
                <a:ea typeface="Menlo" pitchFamily="34" charset="-122"/>
                <a:cs typeface="Menlo" pitchFamily="34" charset="-120"/>
              </a:rPr>
              <a:t>dlp_redactions_total</a:t>
            </a:r>
            <a:pPr indent="0" marL="0">
              <a:lnSpc>
                <a:spcPct val="130000"/>
              </a:lnSpc>
              <a:buNone/>
            </a:pPr>
            <a:r>
              <a:rPr lang="en-US" sz="1400" dirty="0">
                <a:solidFill>
                  <a:srgbClr val="5B6B7F"/>
                </a:solidFill>
                <a:latin typeface="Apple SD Gothic Neo" pitchFamily="34" charset="0"/>
                <a:ea typeface="Apple SD Gothic Neo" pitchFamily="34" charset="-122"/>
                <a:cs typeface="Apple SD Gothic Neo" pitchFamily="34" charset="-120"/>
              </a:rPr>
              <a:t> · </a:t>
            </a:r>
            <a:pPr indent="0" marL="0">
              <a:lnSpc>
                <a:spcPct val="130000"/>
              </a:lnSpc>
              <a:buNone/>
            </a:pPr>
            <a:r>
              <a:rPr lang="en-US" sz="1350" b="1" dirty="0">
                <a:solidFill>
                  <a:srgbClr val="B1361E"/>
                </a:solidFill>
                <a:latin typeface="Menlo" pitchFamily="34" charset="0"/>
                <a:ea typeface="Menlo" pitchFamily="34" charset="-122"/>
                <a:cs typeface="Menlo" pitchFamily="34" charset="-120"/>
              </a:rPr>
              <a:t>leaks_total</a:t>
            </a:r>
            <a:pPr indent="0" marL="0">
              <a:lnSpc>
                <a:spcPct val="130000"/>
              </a:lnSpc>
              <a:buNone/>
            </a:pP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★스크립트 재생기가 만든 모델 출력★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CPU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추가 공격 감소 없음 → Tier B·분류기 로그 전용 강등 근거</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2026-07-29T14:11:48Z</dcterms:created>
  <dcterms:modified xsi:type="dcterms:W3CDTF">2026-07-29T14:11:48Z</dcterms:modified>
</cp:coreProperties>
</file>